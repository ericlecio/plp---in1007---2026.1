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2 Bold" charset="1" panose="00000000000000000000"/>
      <p:regular r:id="rId17"/>
    </p:embeddedFont>
    <p:embeddedFont>
      <p:font typeface="Open Sans 2" charset="1" panose="00000000000000000000"/>
      <p:regular r:id="rId18"/>
    </p:embeddedFont>
    <p:embeddedFont>
      <p:font typeface="Open Sans 1 Bold" charset="1" panose="020B0806030504020204"/>
      <p:regular r:id="rId19"/>
    </p:embeddedFont>
    <p:embeddedFont>
      <p:font typeface="Open Sans 1" charset="1" panose="020B0606030504020204"/>
      <p:regular r:id="rId20"/>
    </p:embeddedFont>
    <p:embeddedFont>
      <p:font typeface="Fira Code" charset="1" panose="020B080905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396999" cy="1522461"/>
          </a:xfrm>
          <a:custGeom>
            <a:avLst/>
            <a:gdLst/>
            <a:ahLst/>
            <a:cxnLst/>
            <a:rect r="r" b="b" t="t" l="l"/>
            <a:pathLst>
              <a:path h="1522461" w="4396999">
                <a:moveTo>
                  <a:pt x="0" y="0"/>
                </a:moveTo>
                <a:lnTo>
                  <a:pt x="4396999" y="0"/>
                </a:lnTo>
                <a:lnTo>
                  <a:pt x="4396999" y="1522461"/>
                </a:lnTo>
                <a:lnTo>
                  <a:pt x="0" y="1522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028842"/>
            <a:ext cx="16230600" cy="250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DSL DE TESTES UNITÁRIOS PARA LING</a:t>
            </a:r>
            <a:r>
              <a:rPr lang="en-US" b="true" sz="7200" strike="noStrike" u="non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</a:t>
            </a:r>
            <a:r>
              <a:rPr lang="en-US" b="true" sz="7200" strike="noStrike" u="non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AGE</a:t>
            </a:r>
            <a:r>
              <a:rPr lang="en-US" b="true" sz="7200" strike="noStrike" u="non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 </a:t>
            </a:r>
            <a:r>
              <a:rPr lang="en-US" b="true" sz="7200" strike="noStrike" u="non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FUNCIONAL 3 (LF3)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576" y="6323885"/>
            <a:ext cx="852041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Equip</a:t>
            </a:r>
            <a:r>
              <a:rPr lang="en-US" b="true" sz="29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e:</a:t>
            </a:r>
            <a:r>
              <a:rPr lang="en-US" sz="2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Ericlecio Thiago e Anderson M. Marinho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42975"/>
            <a:ext cx="4004800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BL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87098"/>
            <a:ext cx="11763242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 spc="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Comportamento Fail-Fast (o interpretador morre no primeiro erro).</a:t>
            </a:r>
          </a:p>
          <a:p>
            <a:pPr algn="l" marL="604519" indent="-302260" lvl="1">
              <a:lnSpc>
                <a:spcPts val="4199"/>
              </a:lnSpc>
              <a:buAutoNum type="arabicPeriod" startAt="1"/>
            </a:pPr>
            <a:r>
              <a:rPr lang="en-US" sz="2799" spc="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Impossibilidade de testar "Caminhos Errado" (erros esperados).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3337" y="4390218"/>
            <a:ext cx="15845963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let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var sacar = fn saldo valor . if saldo &gt; valor then saldo - valor else saldo - "erro"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in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print( sacar (100, 20) == 80 ) 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sacar(10, 50) ,  </a:t>
            </a:r>
            <a:r>
              <a:rPr lang="en-US" sz="2100">
                <a:solidFill>
                  <a:srgbClr val="DB1E2F"/>
                </a:solidFill>
                <a:latin typeface="Fira Code"/>
                <a:ea typeface="Fira Code"/>
                <a:cs typeface="Fira Code"/>
                <a:sym typeface="Fira Code"/>
              </a:rPr>
              <a:t>2. Tentativa de testar Caminho Triste (Fail-Fast)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print( sacar(200, 50) == 150 ) - </a:t>
            </a:r>
            <a:r>
              <a:rPr lang="en-US" sz="2100">
                <a:solidFill>
                  <a:srgbClr val="DB1E2F"/>
                </a:solidFill>
                <a:latin typeface="Fira Code"/>
                <a:ea typeface="Fira Code"/>
                <a:cs typeface="Fira Code"/>
                <a:sym typeface="Fira Code"/>
              </a:rPr>
              <a:t>3. Esse teste final NUNCA vai ser executado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3499280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SOLUÇÃO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45880"/>
            <a:ext cx="9478830" cy="154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DSL Nativa na AST inspirada no mercado (Jest, HUnit).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Padrão BDD (Behavior-Driven Development).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Execução Isolada (Non-blocking).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5435038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GRAMÁTICA (BNF)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92151"/>
            <a:ext cx="9477210" cy="20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ExpDescribe ::= "describe" "(" Expr</a:t>
            </a: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ssao "," ListExp ")"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ExpTest     ::= "test" "(" Expressao "," Expressao ")"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ExpExpect   ::= "expect" "(" Expressao "," Expressao ")"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ExpToThrow  ::= "toThrow" "(" Expressao ")"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0996415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ENGENHARIA DA AST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(CLASSES JAVA)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85650"/>
            <a:ext cx="11963633" cy="258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Funcional3.jj: Tokens mapeados sem recursividade infinita.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ExpDescribe, </a:t>
            </a: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ExpTest, ExpExpect: Nós da AST (o ExpTest é o escudo).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ExpToThrow: Nó de semântica invertida.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TesteFalhouException: Exceção customizada.</a:t>
            </a:r>
          </a:p>
          <a:p>
            <a:pPr algn="just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GerenciadorDeTestes: O Singleton (placar e JSON).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7552862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EXEMPLO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PRÁTICO (BDD)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16762"/>
            <a:ext cx="10579531" cy="318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describe</a:t>
            </a: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("Operacao de Saque no Caixa Eletronico", 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t</a:t>
            </a: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st("Dado saldo positivo, Quando sacar, Entao deve liberar", 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expect(sacar(100, 20), 80)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),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test("Dado saldo insuficiente, Entao deve gerar erro", 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toThrow(sacar(10, 50))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)</a:t>
            </a:r>
          </a:p>
          <a:p>
            <a:pPr algn="l">
              <a:lnSpc>
                <a:spcPts val="3150"/>
              </a:lnSpc>
            </a:pPr>
            <a:r>
              <a:rPr lang="en-US" sz="2100" spc="2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3930551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</a:t>
            </a:r>
            <a:r>
              <a:rPr lang="en-US" b="true" sz="4800" strike="noStrike" u="non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83439"/>
            <a:ext cx="6060943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EXEMPLO DE RELATÓRIO DE TESTES: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338810"/>
            <a:ext cx="304045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Operacao de Saque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Total Executados: 2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Passaram: 2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Falharam: 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81358" y="2308271"/>
            <a:ext cx="12188953" cy="533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Relatório consolidado: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confirmar se describe(...) sempre imprime um resumo e se inclui detalhes de falhas quando existirem (ExpDescribe + GerenciadorDeTestes).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expect(a, b):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checar se o equals() dos Valor* realmente representa igualdade “da linguagem” (ex.: inteiros/booleanos/strings/listas) e se a mensagem de falha está ok.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toThrow(expr)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confirmar se “exceção nativa esperada” é realmente a definição desejada (hoje ele considera sucesso ao capturar qualquer Exception, exceto TesteFalhouException).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Tipos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garantir que describe retorna STRING e test/expect/toThrow retornam BOOLEANO (já codificado assim).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365421"/>
            <a:ext cx="611049" cy="614315"/>
            <a:chOff x="0" y="0"/>
            <a:chExt cx="160935" cy="161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779836"/>
            <a:ext cx="611049" cy="614315"/>
            <a:chOff x="0" y="0"/>
            <a:chExt cx="160935" cy="1617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156152"/>
            <a:ext cx="611049" cy="614315"/>
            <a:chOff x="0" y="0"/>
            <a:chExt cx="160935" cy="1617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894417"/>
            <a:ext cx="611049" cy="614315"/>
            <a:chOff x="0" y="0"/>
            <a:chExt cx="160935" cy="1617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942975"/>
            <a:ext cx="5728725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PRÓXIMOS PASSOS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5728725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PRÓXIMOS PASSOS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84478" y="2308470"/>
            <a:ext cx="12210690" cy="444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Exemplos reais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revisar Funcional3/input e quaisquer arquivos de teste existentes para ver se batem com a gramática e com o comportamento esperado.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Cobertura de cenários: 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pelo menos 1 exemplo de sucesso (expect) e 1 de erro (toThrow) exercitando erro de tipagem/escopo, como descrito no README.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Identificação do teste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garantir que ExpTest sempre usa a descrição correta ao registrar falhas/sucessos.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Erros “nativos não tratados”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revisar o texto gerado para ficar consistente e útil.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365421"/>
            <a:ext cx="611049" cy="614315"/>
            <a:chOff x="0" y="0"/>
            <a:chExt cx="160935" cy="161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779836"/>
            <a:ext cx="611049" cy="614315"/>
            <a:chOff x="0" y="0"/>
            <a:chExt cx="160935" cy="161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099002"/>
            <a:ext cx="611049" cy="614315"/>
            <a:chOff x="0" y="0"/>
            <a:chExt cx="160935" cy="161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418167"/>
            <a:ext cx="611049" cy="614315"/>
            <a:chOff x="0" y="0"/>
            <a:chExt cx="160935" cy="161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5728725" cy="81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PRÓXIMOS PASSOS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526555"/>
            <a:ext cx="18288000" cy="150845"/>
            <a:chOff x="0" y="0"/>
            <a:chExt cx="4816593" cy="3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86000" y="2322136"/>
            <a:ext cx="12188953" cy="416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Tokens e precedência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garantir que describe/test/expect/toThrow não conflitam com outras expressões e que são parseadas onde se espera (Funcional3.jj adiciona as regras em PExpUnaria()).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Forma aceita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checar se describe("...", test(...), test(...)) aceita lista com vírgulas e sem trailing comma (parece que não aceita vírgula final, o que pode afetar exemplos).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reset() no describe: </a:t>
            </a:r>
            <a:r>
              <a:rPr lang="en-US" sz="2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hoje ExpDescribe sempre reseta antes de rodar; avaliar se isso impede múltiplos describe no mesmo programa (se isso for desejado, ok; se quiser agregação global, seria ajuste).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365421"/>
            <a:ext cx="611049" cy="614315"/>
            <a:chOff x="0" y="0"/>
            <a:chExt cx="160935" cy="1617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075111"/>
            <a:ext cx="611049" cy="614315"/>
            <a:chOff x="0" y="0"/>
            <a:chExt cx="160935" cy="1617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384752"/>
            <a:ext cx="611049" cy="614315"/>
            <a:chOff x="0" y="0"/>
            <a:chExt cx="160935" cy="1617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935" cy="161795"/>
            </a:xfrm>
            <a:custGeom>
              <a:avLst/>
              <a:gdLst/>
              <a:ahLst/>
              <a:cxnLst/>
              <a:rect r="r" b="b" t="t" l="l"/>
              <a:pathLst>
                <a:path h="161795" w="160935">
                  <a:moveTo>
                    <a:pt x="80467" y="0"/>
                  </a:moveTo>
                  <a:lnTo>
                    <a:pt x="80467" y="0"/>
                  </a:lnTo>
                  <a:cubicBezTo>
                    <a:pt x="101809" y="0"/>
                    <a:pt x="122276" y="8478"/>
                    <a:pt x="137366" y="23568"/>
                  </a:cubicBezTo>
                  <a:cubicBezTo>
                    <a:pt x="152457" y="38659"/>
                    <a:pt x="160935" y="59126"/>
                    <a:pt x="160935" y="80467"/>
                  </a:cubicBezTo>
                  <a:lnTo>
                    <a:pt x="160935" y="81328"/>
                  </a:lnTo>
                  <a:cubicBezTo>
                    <a:pt x="160935" y="102669"/>
                    <a:pt x="152457" y="123136"/>
                    <a:pt x="137366" y="138227"/>
                  </a:cubicBezTo>
                  <a:cubicBezTo>
                    <a:pt x="122276" y="153317"/>
                    <a:pt x="101809" y="161795"/>
                    <a:pt x="80467" y="161795"/>
                  </a:cubicBezTo>
                  <a:lnTo>
                    <a:pt x="80467" y="161795"/>
                  </a:lnTo>
                  <a:cubicBezTo>
                    <a:pt x="36026" y="161795"/>
                    <a:pt x="0" y="125769"/>
                    <a:pt x="0" y="81328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F9F9F9"/>
            </a:solidFill>
            <a:ln w="3810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935" cy="199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9811" y="8226652"/>
            <a:ext cx="2979489" cy="1031648"/>
          </a:xfrm>
          <a:custGeom>
            <a:avLst/>
            <a:gdLst/>
            <a:ahLst/>
            <a:cxnLst/>
            <a:rect r="r" b="b" t="t" l="l"/>
            <a:pathLst>
              <a:path h="1031648" w="2979489">
                <a:moveTo>
                  <a:pt x="0" y="0"/>
                </a:moveTo>
                <a:lnTo>
                  <a:pt x="2979489" y="0"/>
                </a:lnTo>
                <a:lnTo>
                  <a:pt x="2979489" y="1031648"/>
                </a:lnTo>
                <a:lnTo>
                  <a:pt x="0" y="103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-7801398" y="2156109"/>
            <a:ext cx="18288000" cy="150845"/>
            <a:chOff x="0" y="0"/>
            <a:chExt cx="4816593" cy="39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39729"/>
            </a:xfrm>
            <a:custGeom>
              <a:avLst/>
              <a:gdLst/>
              <a:ahLst/>
              <a:cxnLst/>
              <a:rect r="r" b="b" t="t" l="l"/>
              <a:pathLst>
                <a:path h="397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729"/>
                  </a:lnTo>
                  <a:lnTo>
                    <a:pt x="0" y="39729"/>
                  </a:lnTo>
                  <a:close/>
                </a:path>
              </a:pathLst>
            </a:custGeom>
            <a:solidFill>
              <a:srgbClr val="DB1E2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53528" y="2986836"/>
            <a:ext cx="2380944" cy="2282730"/>
          </a:xfrm>
          <a:custGeom>
            <a:avLst/>
            <a:gdLst/>
            <a:ahLst/>
            <a:cxnLst/>
            <a:rect r="r" b="b" t="t" l="l"/>
            <a:pathLst>
              <a:path h="2282730" w="2380944">
                <a:moveTo>
                  <a:pt x="0" y="0"/>
                </a:moveTo>
                <a:lnTo>
                  <a:pt x="2380944" y="0"/>
                </a:lnTo>
                <a:lnTo>
                  <a:pt x="2380944" y="2282730"/>
                </a:lnTo>
                <a:lnTo>
                  <a:pt x="0" y="228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66546" y="5641041"/>
            <a:ext cx="5154908" cy="165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OBRIGADO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DAHHndo2Wyw</dc:identifier>
  <dcterms:modified xsi:type="dcterms:W3CDTF">2011-08-01T06:04:30Z</dcterms:modified>
  <cp:revision>1</cp:revision>
  <dc:title>Apresentação DSL de Testes Unitários</dc:title>
</cp:coreProperties>
</file>